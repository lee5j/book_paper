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0c5a965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0c5a965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 </a:t>
            </a:r>
            <a:r>
              <a:rPr lang="ko"/>
              <a:t>챔피언 </a:t>
            </a:r>
            <a:r>
              <a:rPr lang="ko"/>
              <a:t>아키텍처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98375" y="1971800"/>
            <a:ext cx="1919100" cy="5667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단기 심리 이슈 분석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298375" y="1338600"/>
            <a:ext cx="1919100" cy="5667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단기 기술 분석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98375" y="3238200"/>
            <a:ext cx="1919100" cy="5667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장기 질적 분석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298375" y="2605000"/>
            <a:ext cx="1919100" cy="5667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장기 펀더멘탈 분석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3234700" y="1440850"/>
            <a:ext cx="1815900" cy="548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긴급 판단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parallel reasonsing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028625" y="2492650"/>
            <a:ext cx="3252000" cy="2006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" name="Google Shape;66;p14"/>
          <p:cNvCxnSpPr>
            <a:stCxn id="61" idx="3"/>
            <a:endCxn id="65" idx="1"/>
          </p:cNvCxnSpPr>
          <p:nvPr/>
        </p:nvCxnSpPr>
        <p:spPr>
          <a:xfrm>
            <a:off x="2217475" y="1621950"/>
            <a:ext cx="811200" cy="187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4"/>
          <p:cNvCxnSpPr>
            <a:stCxn id="60" idx="3"/>
            <a:endCxn id="65" idx="1"/>
          </p:cNvCxnSpPr>
          <p:nvPr/>
        </p:nvCxnSpPr>
        <p:spPr>
          <a:xfrm>
            <a:off x="2217475" y="2255150"/>
            <a:ext cx="811200" cy="124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>
            <a:stCxn id="63" idx="3"/>
            <a:endCxn id="65" idx="1"/>
          </p:cNvCxnSpPr>
          <p:nvPr/>
        </p:nvCxnSpPr>
        <p:spPr>
          <a:xfrm>
            <a:off x="2217475" y="2888350"/>
            <a:ext cx="811200" cy="60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4"/>
          <p:cNvCxnSpPr>
            <a:stCxn id="62" idx="3"/>
            <a:endCxn id="65" idx="1"/>
          </p:cNvCxnSpPr>
          <p:nvPr/>
        </p:nvCxnSpPr>
        <p:spPr>
          <a:xfrm flipH="1" rot="10800000">
            <a:off x="2217475" y="3495750"/>
            <a:ext cx="811200" cy="2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4"/>
          <p:cNvCxnSpPr>
            <a:stCxn id="61" idx="3"/>
            <a:endCxn id="64" idx="1"/>
          </p:cNvCxnSpPr>
          <p:nvPr/>
        </p:nvCxnSpPr>
        <p:spPr>
          <a:xfrm>
            <a:off x="2217475" y="1621950"/>
            <a:ext cx="1017300" cy="93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4"/>
          <p:cNvCxnSpPr>
            <a:stCxn id="60" idx="3"/>
            <a:endCxn id="64" idx="1"/>
          </p:cNvCxnSpPr>
          <p:nvPr/>
        </p:nvCxnSpPr>
        <p:spPr>
          <a:xfrm flipH="1" rot="10800000">
            <a:off x="2217475" y="1715150"/>
            <a:ext cx="1017300" cy="540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4"/>
          <p:cNvSpPr/>
          <p:nvPr/>
        </p:nvSpPr>
        <p:spPr>
          <a:xfrm>
            <a:off x="6553975" y="2134500"/>
            <a:ext cx="14166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거래 요청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functioncall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MCP</a:t>
            </a:r>
            <a:endParaRPr/>
          </a:p>
        </p:txBody>
      </p:sp>
      <p:cxnSp>
        <p:nvCxnSpPr>
          <p:cNvPr id="73" name="Google Shape;73;p14"/>
          <p:cNvCxnSpPr>
            <a:stCxn id="64" idx="3"/>
            <a:endCxn id="72" idx="0"/>
          </p:cNvCxnSpPr>
          <p:nvPr/>
        </p:nvCxnSpPr>
        <p:spPr>
          <a:xfrm>
            <a:off x="5050600" y="1715200"/>
            <a:ext cx="2211600" cy="4194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4"/>
          <p:cNvSpPr txBox="1"/>
          <p:nvPr/>
        </p:nvSpPr>
        <p:spPr>
          <a:xfrm>
            <a:off x="3491375" y="2416450"/>
            <a:ext cx="24984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리서치 오케스트레이터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37000" y="3970975"/>
            <a:ext cx="1880400" cy="848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</a:rPr>
              <a:t>RAG DB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6" name="Google Shape;76;p14"/>
          <p:cNvCxnSpPr>
            <a:stCxn id="75" idx="3"/>
          </p:cNvCxnSpPr>
          <p:nvPr/>
        </p:nvCxnSpPr>
        <p:spPr>
          <a:xfrm flipH="1" rot="10800000">
            <a:off x="2217400" y="3984025"/>
            <a:ext cx="849900" cy="41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7" name="Google Shape;77;p14"/>
          <p:cNvSpPr txBox="1"/>
          <p:nvPr/>
        </p:nvSpPr>
        <p:spPr>
          <a:xfrm rot="-1517855">
            <a:off x="2159338" y="3696200"/>
            <a:ext cx="1783209" cy="3231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</a:rPr>
              <a:t>분석 결과 저장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 rot="-1517855">
            <a:off x="2200663" y="3963425"/>
            <a:ext cx="1783209" cy="3231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</a:rPr>
              <a:t>분석 결과 </a:t>
            </a:r>
            <a:r>
              <a:rPr lang="ko" sz="900">
                <a:solidFill>
                  <a:schemeClr val="dk2"/>
                </a:solidFill>
              </a:rPr>
              <a:t>제공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3189050" y="2786875"/>
            <a:ext cx="1075800" cy="124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/>
              <a:t>a마이너</a:t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버핏 알파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소로스 알파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린치 알파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그레이엄 알파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…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3189050" y="4076200"/>
            <a:ext cx="1075800" cy="35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 rule</a:t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4610150" y="3165250"/>
            <a:ext cx="1563300" cy="50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수익-위험 조정 agent</a:t>
            </a:r>
            <a:endParaRPr/>
          </a:p>
        </p:txBody>
      </p:sp>
      <p:cxnSp>
        <p:nvCxnSpPr>
          <p:cNvPr id="82" name="Google Shape;82;p14"/>
          <p:cNvCxnSpPr>
            <a:stCxn id="79" idx="3"/>
            <a:endCxn id="81" idx="1"/>
          </p:cNvCxnSpPr>
          <p:nvPr/>
        </p:nvCxnSpPr>
        <p:spPr>
          <a:xfrm>
            <a:off x="4264850" y="3407275"/>
            <a:ext cx="345300" cy="1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4"/>
          <p:cNvCxnSpPr>
            <a:stCxn id="80" idx="3"/>
          </p:cNvCxnSpPr>
          <p:nvPr/>
        </p:nvCxnSpPr>
        <p:spPr>
          <a:xfrm flipH="1" rot="10800000">
            <a:off x="4264850" y="3410650"/>
            <a:ext cx="133800" cy="8427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4"/>
          <p:cNvCxnSpPr>
            <a:stCxn id="81" idx="3"/>
            <a:endCxn id="72" idx="2"/>
          </p:cNvCxnSpPr>
          <p:nvPr/>
        </p:nvCxnSpPr>
        <p:spPr>
          <a:xfrm flipH="1" rot="10800000">
            <a:off x="6173450" y="2983150"/>
            <a:ext cx="1088700" cy="435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4"/>
          <p:cNvCxnSpPr>
            <a:stCxn id="81" idx="3"/>
          </p:cNvCxnSpPr>
          <p:nvPr/>
        </p:nvCxnSpPr>
        <p:spPr>
          <a:xfrm rot="10800000">
            <a:off x="5007350" y="1991050"/>
            <a:ext cx="1166100" cy="1427400"/>
          </a:xfrm>
          <a:prstGeom prst="bentConnector4">
            <a:avLst>
              <a:gd fmla="val -20421" name="adj1"/>
              <a:gd fmla="val 99995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